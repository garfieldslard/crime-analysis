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71" r:id="rId4"/>
    <p:sldId id="257" r:id="rId5"/>
    <p:sldId id="264" r:id="rId6"/>
    <p:sldId id="258" r:id="rId7"/>
    <p:sldId id="259" r:id="rId8"/>
    <p:sldId id="278" r:id="rId9"/>
    <p:sldId id="267" r:id="rId10"/>
    <p:sldId id="276" r:id="rId11"/>
    <p:sldId id="273" r:id="rId12"/>
    <p:sldId id="274" r:id="rId13"/>
    <p:sldId id="275" r:id="rId14"/>
    <p:sldId id="277" r:id="rId15"/>
    <p:sldId id="266" r:id="rId16"/>
    <p:sldId id="262" r:id="rId17"/>
    <p:sldId id="270" r:id="rId18"/>
    <p:sldId id="261" r:id="rId19"/>
    <p:sldId id="265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8D072-AF11-720A-C62F-B1A17A7B4E65}" v="38" dt="2026-05-08T23:22:01.627"/>
    <p1510:client id="{515C99E2-71C9-2874-9A9E-BB4455856EBA}" v="295" dt="2026-05-09T23:25:32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montgomerycountymd.gov/Public-Safety/Crime/icn6-v9z3/about_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Predicting Dispatch Response Time in Montgomery County (2025)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i="1">
                <a:ea typeface="+mn-lt"/>
                <a:cs typeface="+mn-lt"/>
              </a:rPr>
              <a:t>A Statistical Analysis of 2025 Crime &amp; Dispatch Data</a:t>
            </a:r>
            <a:endParaRPr lang="en-US"/>
          </a:p>
          <a:p>
            <a:r>
              <a:rPr lang="en-US"/>
              <a:t>DATA 205</a:t>
            </a:r>
          </a:p>
          <a:p>
            <a:r>
              <a:rPr lang="en-US"/>
              <a:t>Lucjan </a:t>
            </a:r>
            <a:r>
              <a:rPr lang="en-US" err="1"/>
              <a:t>Szulim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1013-AD7A-2644-6B0B-9E5E7C1D2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625A3-B152-3D87-609F-D7FAD1A21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When you call 911 in Montgomery County, how long until an officer arrives? And does it depend on more than just the emergency?</a:t>
            </a:r>
          </a:p>
          <a:p>
            <a:r>
              <a:rPr lang="en-US">
                <a:ea typeface="+mn-lt"/>
                <a:cs typeface="+mn-lt"/>
              </a:rPr>
              <a:t>Priority level, geography, and time of day predict response time - but not as much as you might expect</a:t>
            </a:r>
          </a:p>
          <a:p>
            <a:r>
              <a:rPr lang="en-US">
                <a:ea typeface="+mn-lt"/>
                <a:cs typeface="+mn-lt"/>
              </a:rPr>
              <a:t>Here is what the data shows</a:t>
            </a:r>
          </a:p>
        </p:txBody>
      </p:sp>
    </p:spTree>
    <p:extLst>
      <p:ext uri="{BB962C8B-B14F-4D97-AF65-F5344CB8AC3E}">
        <p14:creationId xmlns:p14="http://schemas.microsoft.com/office/powerpoint/2010/main" val="329173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48481-2CD9-6FDD-F59F-B24CCE83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How Does Montgomery County Classify 911 Calls?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9368EB9-51F7-A3F8-29B8-99631E6166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198187"/>
              </p:ext>
            </p:extLst>
          </p:nvPr>
        </p:nvGraphicFramePr>
        <p:xfrm>
          <a:off x="838200" y="1825625"/>
          <a:ext cx="10515600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7977322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408327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246151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19344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859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Emergency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Immediate threat to life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Active shooting, cardiac arrest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949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Serious incident 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Assault, robbery in progress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8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Urgent but not life-threatening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Fight, suspicious person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54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Non-urgent incident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Noise complaint, minor dispute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188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Administrative or low-priority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Parking violation, cold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9796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5923B4-7D5C-66E4-795D-8BC1E0B1145D}"/>
              </a:ext>
            </a:extLst>
          </p:cNvPr>
          <p:cNvSpPr txBox="1"/>
          <p:nvPr/>
        </p:nvSpPr>
        <p:spPr>
          <a:xfrm>
            <a:off x="838805" y="5425180"/>
            <a:ext cx="105053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Priority is assigned by the dispatcher based on caller information at time of </a:t>
            </a:r>
            <a:r>
              <a:rPr lang="en-US">
                <a:ea typeface="+mn-lt"/>
                <a:cs typeface="+mn-lt"/>
              </a:rPr>
              <a:t>call;</a:t>
            </a:r>
            <a:r>
              <a:rPr lang="en-US" dirty="0">
                <a:ea typeface="+mn-lt"/>
                <a:cs typeface="+mn-lt"/>
              </a:rPr>
              <a:t> it is the system's best estimate of urgency before an officer arrives.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61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0D4C-07D6-78A9-EF2D-C47D86EC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5AD0C-F302-1C68-A75B-857E07157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Montgomery County Open Data Portal - Crime Reports (59,811 records) &amp; Police Dispatch Incidents (252,157 records), filtered to 2025</a:t>
            </a:r>
          </a:p>
          <a:p>
            <a:r>
              <a:rPr lang="en-US">
                <a:ea typeface="+mn-lt"/>
                <a:cs typeface="+mn-lt"/>
              </a:rPr>
              <a:t>Goals: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Understand what predicts dispatch response time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Link crime type to dispatch behavior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Build a predictive model of response time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5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7D0FD-81A1-5F45-20E8-46EA4023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BCF7D-B334-1131-A236-C0839FFB9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Python (pandas, </a:t>
            </a:r>
            <a:r>
              <a:rPr lang="en-US" err="1">
                <a:ea typeface="+mn-lt"/>
                <a:cs typeface="+mn-lt"/>
              </a:rPr>
              <a:t>numpy</a:t>
            </a:r>
            <a:r>
              <a:rPr lang="en-US">
                <a:ea typeface="+mn-lt"/>
                <a:cs typeface="+mn-lt"/>
              </a:rPr>
              <a:t>, matplotlib, seaborn)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scipy</a:t>
            </a:r>
            <a:r>
              <a:rPr lang="en-US">
                <a:ea typeface="+mn-lt"/>
                <a:cs typeface="+mn-lt"/>
              </a:rPr>
              <a:t> for statistical tests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statsmodels</a:t>
            </a:r>
            <a:r>
              <a:rPr lang="en-US">
                <a:ea typeface="+mn-lt"/>
                <a:cs typeface="+mn-lt"/>
              </a:rPr>
              <a:t> for OLS regression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scikit-learn for Random Forest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GitHub to store and manage the project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Google </a:t>
            </a:r>
            <a:r>
              <a:rPr lang="en-US" err="1">
                <a:ea typeface="+mn-lt"/>
                <a:cs typeface="+mn-lt"/>
              </a:rPr>
              <a:t>Colab</a:t>
            </a:r>
            <a:r>
              <a:rPr lang="en-US">
                <a:ea typeface="+mn-lt"/>
                <a:cs typeface="+mn-lt"/>
              </a:rPr>
              <a:t> as the development environment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Montgomery open data portal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09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E9B5-F11C-7B27-4660-AB421C72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Pipeline &amp; Cleaning Decisions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DD02-16D2-61E3-E25E-DDDAC07C9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Four notebooks: Ingestion → EDA → Statistical Tests → Modeling</a:t>
            </a:r>
            <a:endParaRPr lang="en-US">
              <a:latin typeface="Aptos"/>
              <a:ea typeface="+mn-lt"/>
              <a:cs typeface="Arial"/>
            </a:endParaRPr>
          </a:p>
          <a:p>
            <a:r>
              <a:rPr lang="en-US">
                <a:latin typeface="Aptos"/>
                <a:cs typeface="Arial"/>
              </a:rPr>
              <a:t>Key decisions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Arial"/>
              </a:rPr>
              <a:t>Response times &gt; 120 minutes removed (415 rows, 0.16%), response time greater than 2 hours is not the standard for active emergencies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Response times &lt; 1 min excluded, not true dispatches</a:t>
            </a:r>
            <a:endParaRPr lang="en-US">
              <a:ea typeface="+mn-lt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59,011 calls with no arrival recorded flagged separately, not dropped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20+ engineered features: time of day, priority labels, incident categories, geographic joins</a:t>
            </a:r>
          </a:p>
          <a:p>
            <a:r>
              <a:rPr lang="en-US">
                <a:ea typeface="+mn-lt"/>
                <a:cs typeface="+mn-lt"/>
              </a:rPr>
              <a:t>Final analytic populations: 192,731 dispatch calls with recorded </a:t>
            </a:r>
            <a:r>
              <a:rPr lang="en-US" err="1">
                <a:ea typeface="+mn-lt"/>
                <a:cs typeface="+mn-lt"/>
              </a:rPr>
              <a:t>respo</a:t>
            </a:r>
            <a:r>
              <a:rPr lang="en-US">
                <a:ea typeface="+mn-lt"/>
                <a:cs typeface="+mn-lt"/>
              </a:rPr>
              <a:t>nse times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1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44EF-F99C-7340-8AE6-0983BFA4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05300-F496-97D6-8B74-BFE8474C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23316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ea typeface="+mn-lt"/>
                <a:cs typeface="+mn-lt"/>
              </a:rPr>
              <a:t>Dispatch: 252,157 raw → 192,731 analytic | Median RT: 7.95 min | Mean: 11.29 min | 5 priority levels | 6 districts</a:t>
            </a:r>
          </a:p>
          <a:p>
            <a:r>
              <a:rPr lang="en-US">
                <a:ea typeface="+mn-lt"/>
                <a:cs typeface="+mn-lt"/>
              </a:rPr>
              <a:t>Crime: 59,811 records | 4 broad categories | 49 NIBRS codes | 10 specific incident types analyzed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Response time distribution: right-skewed, log-normal shape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Priority breakdown: P1-High is the most common (94,821 calls)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Most common incident types: Suspicious, Traffic, Theft/Burglary, Other</a:t>
            </a:r>
            <a:endParaRPr lang="en-US"/>
          </a:p>
          <a:p>
            <a:endParaRPr lang="en-US"/>
          </a:p>
        </p:txBody>
      </p:sp>
      <p:pic>
        <p:nvPicPr>
          <p:cNvPr id="5" name="Picture 4" descr="A graph of a number of times&#10;&#10;AI-generated content may be incorrect.">
            <a:extLst>
              <a:ext uri="{FF2B5EF4-FFF2-40B4-BE49-F238E27FC236}">
                <a16:creationId xmlns:a16="http://schemas.microsoft.com/office/drawing/2014/main" id="{A0D6DD9B-4EDD-0A62-5D11-5ADD58B0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376" y="1816401"/>
            <a:ext cx="4447498" cy="272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85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AAC1-1DE5-F803-C864-A21C5E06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Six Hypothesis Tests, One Clear Winner</a:t>
            </a:r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CACB620-1BBA-7B31-EC68-9CB9C02AC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413464"/>
              </p:ext>
            </p:extLst>
          </p:nvPr>
        </p:nvGraphicFramePr>
        <p:xfrm>
          <a:off x="838200" y="1825625"/>
          <a:ext cx="1051560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502009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454481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9226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497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Does RT differ by priority?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Kruskal-Wallis + Dunn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ε²=0.104, medium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125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RT differ by incident type?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Kruskal-Wallis + Dunn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ε²=0.019, small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30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weekend affect RT?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Mann-Whitney 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r=-0.053, negligible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40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type change predict duration?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Mann-Whitney 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r=0.186, small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92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crime rate predict RT?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Spearman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ρ=-0.086, no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Does time of day affect RT?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Kruskal-Wallis + Dunn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ε²=0.026, small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7235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762DD5-576E-C68F-C085-4356A2672C88}"/>
              </a:ext>
            </a:extLst>
          </p:cNvPr>
          <p:cNvSpPr txBox="1"/>
          <p:nvPr/>
        </p:nvSpPr>
        <p:spPr>
          <a:xfrm>
            <a:off x="832041" y="4667548"/>
            <a:ext cx="1051213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Non-parametric tests used throughout since response time is right-skewed. Effect sizes reported alongside p-values because with n=192,731, everything</a:t>
            </a:r>
            <a:r>
              <a:rPr lang="en-US" dirty="0">
                <a:ea typeface="+mn-lt"/>
                <a:cs typeface="+mn-lt"/>
              </a:rPr>
              <a:t> is statistically significant.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Priority is the only predictor with a medium effect size, everything else is small or negligible. This </a:t>
            </a:r>
            <a:r>
              <a:rPr lang="en-US" dirty="0">
                <a:ea typeface="+mn-lt"/>
                <a:cs typeface="+mn-lt"/>
              </a:rPr>
              <a:t>consistency across six different tests and two modeling approaches makes it the most robust finding in the project.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22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898D1-4001-B570-967C-C94588167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37786" cy="520547"/>
          </a:xfrm>
        </p:spPr>
        <p:txBody>
          <a:bodyPr anchor="b">
            <a:normAutofit fontScale="90000"/>
          </a:bodyPr>
          <a:lstStyle/>
          <a:p>
            <a:r>
              <a:rPr lang="en-US" sz="3200"/>
              <a:t>Models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2E478-4285-2A84-7B72-5E3D2241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1262386"/>
            <a:ext cx="5219713" cy="48406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n-US" sz="1600">
                <a:ea typeface="+mn-lt"/>
                <a:cs typeface="+mn-lt"/>
              </a:rPr>
              <a:t>Models: OLS regression + Random Forest on both raw and log-transformed response time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Best model: Random Forest (log target) - R²= 0.124, Mean Absolute Error = 6.80 min</a:t>
            </a:r>
            <a:endParaRPr lang="en-US" sz="1600"/>
          </a:p>
          <a:p>
            <a:r>
              <a:rPr lang="en-US" sz="1600" i="1">
                <a:ea typeface="+mn-lt"/>
                <a:cs typeface="+mn-lt"/>
              </a:rPr>
              <a:t>"Why is R² only 0.124 if priority is so dominant?"</a:t>
            </a:r>
            <a:r>
              <a:rPr lang="en-US" sz="1600">
                <a:ea typeface="+mn-lt"/>
                <a:cs typeface="+mn-lt"/>
              </a:rPr>
              <a:t> - Priority tells us the expected wait, but the actual wait on any given call depends on where officers are at that moment, data we do not have</a:t>
            </a:r>
            <a:endParaRPr lang="en-US" sz="1600"/>
          </a:p>
          <a:p>
            <a:endParaRPr lang="en-US" sz="11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4D383B5-1790-9462-CD12-0A1C0D05A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297" y="741516"/>
            <a:ext cx="5884374" cy="466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4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2AE4-81EE-58DC-FC69-782624B00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Higher the Priority, The Faster the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F8652-54DC-B017-2792-561335C85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663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P0 median = 4.6 min vs. P4 </a:t>
            </a:r>
            <a:r>
              <a:rPr lang="en-US">
                <a:ea typeface="+mn-lt"/>
                <a:cs typeface="+mn-lt"/>
              </a:rPr>
              <a:t>median = 13.6 min, 3× </a:t>
            </a:r>
            <a:r>
              <a:rPr lang="en-US" dirty="0">
                <a:ea typeface="+mn-lt"/>
                <a:cs typeface="+mn-lt"/>
              </a:rPr>
              <a:t>difference</a:t>
            </a:r>
          </a:p>
          <a:p>
            <a:r>
              <a:rPr lang="en-US">
                <a:ea typeface="+mn-lt"/>
                <a:cs typeface="+mn-lt"/>
              </a:rPr>
              <a:t>Kruskal-Wallis H = 2,911, ε² = 0.104 (medium effect)</a:t>
            </a:r>
            <a:endParaRPr lang="en-US" dirty="0"/>
          </a:p>
        </p:txBody>
      </p:sp>
      <p:pic>
        <p:nvPicPr>
          <p:cNvPr id="5" name="Picture 4" descr="A graph of a number of colored squares&#10;&#10;AI-generated content may be incorrect.">
            <a:extLst>
              <a:ext uri="{FF2B5EF4-FFF2-40B4-BE49-F238E27FC236}">
                <a16:creationId xmlns:a16="http://schemas.microsoft.com/office/drawing/2014/main" id="{D353C883-4525-6999-9ED4-29D934D73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295" y="1028291"/>
            <a:ext cx="5946928" cy="424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3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5CF8-E884-7C45-A89E-FF134832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 Surprising Gap in the Priority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74F10-C4E5-5955-99B7-2C8A2BC3F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94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P1-High and P2-Medium are statistically indistinguishable (Dunn post-hoc p=1.0)</a:t>
            </a:r>
          </a:p>
          <a:p>
            <a:r>
              <a:rPr lang="en-US">
                <a:ea typeface="+mn-lt"/>
                <a:cs typeface="+mn-lt"/>
              </a:rPr>
              <a:t>Two separate priority levels produce identical operational outcomes, worth reviewing dispatch protocol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 descr="A graph of a number of colored bars&#10;&#10;AI-generated content may be incorrect.">
            <a:extLst>
              <a:ext uri="{FF2B5EF4-FFF2-40B4-BE49-F238E27FC236}">
                <a16:creationId xmlns:a16="http://schemas.microsoft.com/office/drawing/2014/main" id="{B5BFDE1B-308A-519E-6F70-0B84EF128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376" y="1691967"/>
            <a:ext cx="5697667" cy="430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5A19E-3228-D639-56F8-AE3D0D70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Fewer Calls = Faster Response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51433-20E8-DC50-4FE3-FB56E5EBA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635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Late Night (midnight–5am) median 6.5 min vs. daytime ~9.8 min</a:t>
            </a:r>
          </a:p>
          <a:p>
            <a:r>
              <a:rPr lang="en-US">
                <a:ea typeface="+mn-lt"/>
                <a:cs typeface="+mn-lt"/>
              </a:rPr>
              <a:t>Lower concurrent call volume, not increased staffing</a:t>
            </a:r>
            <a:endParaRPr lang="en-US" dirty="0"/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C3DC727A-0162-14FC-8609-E009FF88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07"/>
          <a:stretch>
            <a:fillRect/>
          </a:stretch>
        </p:blipFill>
        <p:spPr>
          <a:xfrm>
            <a:off x="6093337" y="1824961"/>
            <a:ext cx="5581043" cy="428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90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DC69-A2BF-A557-31DE-09BF49BA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Geography Shapes Your Wait Time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D24B7-50A3-5FA5-8469-923DCB32B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943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3D; Silver Spring and 6D; Gaithersburg/Montgomery </a:t>
            </a:r>
            <a:r>
              <a:rPr lang="en-US">
                <a:ea typeface="+mn-lt"/>
                <a:cs typeface="+mn-lt"/>
              </a:rPr>
              <a:t>Village fastest (~7.0 min).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2D; Bethesda </a:t>
            </a:r>
            <a:r>
              <a:rPr lang="en-US" dirty="0">
                <a:ea typeface="+mn-lt"/>
                <a:cs typeface="+mn-lt"/>
              </a:rPr>
              <a:t>slowest (~9.5 min), 2.5 min gap persists after controlling for priority</a:t>
            </a:r>
            <a:endParaRPr lang="en-US"/>
          </a:p>
        </p:txBody>
      </p:sp>
      <p:pic>
        <p:nvPicPr>
          <p:cNvPr id="4" name="Picture 3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2023824B-5FF6-46F4-17E1-C6C031463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4"/>
          <a:stretch>
            <a:fillRect/>
          </a:stretch>
        </p:blipFill>
        <p:spPr>
          <a:xfrm>
            <a:off x="6093594" y="1690789"/>
            <a:ext cx="5670666" cy="434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49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02DB-EB50-ED66-6ABB-6AF16584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Weekends Are Not Slower, The Data Says </a:t>
            </a:r>
            <a:r>
              <a:rPr lang="en-US" dirty="0">
                <a:ea typeface="+mj-lt"/>
                <a:cs typeface="+mj-lt"/>
              </a:rPr>
              <a:t>So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68C4C-FB2F-CF17-8D2E-B5649C18C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Weekday median: 8.85 min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Weekend median: 8.18 min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Difference: 0.67 min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Mann-Whitney </a:t>
            </a:r>
            <a:r>
              <a:rPr lang="en-US">
                <a:ea typeface="+mn-lt"/>
                <a:cs typeface="+mn-lt"/>
              </a:rPr>
              <a:t>U Test with p</a:t>
            </a:r>
            <a:r>
              <a:rPr lang="en-US" dirty="0">
                <a:ea typeface="+mn-lt"/>
                <a:cs typeface="+mn-lt"/>
              </a:rPr>
              <a:t>&lt;0.001 but r=-0.053 (negligible effect)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Statistically significant does not mean meaningful, this is why effect sizes matter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79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8961-29F1-F47D-D373-75CD59BA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D5DE-C380-20F2-7E50-CE2FB5FE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800">
                <a:ea typeface="+mn-lt"/>
                <a:cs typeface="+mn-lt"/>
              </a:rPr>
              <a:t>Challenging: </a:t>
            </a:r>
            <a:endParaRPr lang="en-US" sz="1800"/>
          </a:p>
          <a:p>
            <a:pPr lvl="1"/>
            <a:r>
              <a:rPr lang="en-US" sz="1800">
                <a:ea typeface="+mn-lt"/>
                <a:cs typeface="+mn-lt"/>
              </a:rPr>
              <a:t>Column name inconsistencies across raw files caused repeated </a:t>
            </a:r>
            <a:r>
              <a:rPr lang="en-US" sz="1800" err="1">
                <a:ea typeface="+mn-lt"/>
                <a:cs typeface="+mn-lt"/>
              </a:rPr>
              <a:t>KeyErrors</a:t>
            </a:r>
            <a:r>
              <a:rPr lang="en-US" sz="1800">
                <a:ea typeface="+mn-lt"/>
                <a:cs typeface="+mn-lt"/>
              </a:rPr>
              <a:t> throughout the pipeline</a:t>
            </a:r>
          </a:p>
          <a:p>
            <a:pPr lvl="1"/>
            <a:r>
              <a:rPr lang="en-US" sz="1800">
                <a:ea typeface="+mn-lt"/>
                <a:cs typeface="+mn-lt"/>
              </a:rPr>
              <a:t>23% of dispatch records had no arrival recorded - required careful population documentation</a:t>
            </a:r>
          </a:p>
          <a:p>
            <a:pPr lvl="1"/>
            <a:r>
              <a:rPr lang="en-US" sz="1800">
                <a:ea typeface="+mn-lt"/>
                <a:cs typeface="+mn-lt"/>
              </a:rPr>
              <a:t>Multicollinearity between district dummies and crime count required structural model changes</a:t>
            </a:r>
          </a:p>
          <a:p>
            <a:pPr lvl="1"/>
            <a:r>
              <a:rPr lang="en-US" sz="1800">
                <a:ea typeface="+mn-lt"/>
                <a:cs typeface="+mn-lt"/>
              </a:rPr>
              <a:t>Balancing the ingestion/EDA notebook separation mid-project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Rewarding: </a:t>
            </a:r>
            <a:endParaRPr lang="en-US" sz="180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The P1 vs P2 finding was unexpected and operationally meaningful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Watching the OLS residuals improve dramatically with log transformation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Building a clean, reproducible data pipeline from messy open data</a:t>
            </a:r>
          </a:p>
          <a:p>
            <a:r>
              <a:rPr lang="en-US" sz="1800">
                <a:ea typeface="+mn-lt"/>
                <a:cs typeface="+mn-lt"/>
              </a:rPr>
              <a:t>What I would change: </a:t>
            </a:r>
            <a:endParaRPr lang="en-US" sz="180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Establish the notebook structure and clean file naming conventions before writing any code</a:t>
            </a:r>
            <a:endParaRPr lang="en-US" sz="1800"/>
          </a:p>
          <a:p>
            <a:pPr lvl="1"/>
            <a:r>
              <a:rPr lang="en-US" sz="1800">
                <a:ea typeface="+mn-lt"/>
                <a:cs typeface="+mn-lt"/>
              </a:rPr>
              <a:t>Add beat and PRA-level geographic analysis from the start - district level had too few units (n=6) for meaningful spatial tests</a:t>
            </a:r>
            <a:endParaRPr lang="en-US" sz="180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Collect a full year of data rather than filtering to 2025 mid-year to capture seasonal patterns</a:t>
            </a:r>
            <a:endParaRPr lang="en-US" sz="1800"/>
          </a:p>
          <a:p>
            <a:pPr>
              <a:buFont typeface="Arial" panose="020B0604020202020204" pitchFamily="34" charset="0"/>
              <a:buChar char="•"/>
            </a:pPr>
            <a:endParaRPr lang="en-US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7026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74C5C-FAB2-D2A8-9AE8-1C223BB3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8018B-690F-F7A0-E781-A90C76207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Response time missing for 23% of dispatch records (no-arrival population)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Only 6 districts - low power for geographic tests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real-time operational data (officer location, concurrent calls)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2025 only - seasonal patterns not fully captured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OLS condition number elevated despite VIFs &lt; 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07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6872-C22C-D525-B871-91E93A9A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1A2C-71A4-E0CF-7221-2B4025C85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>
                <a:ea typeface="+mn-lt"/>
                <a:cs typeface="+mn-lt"/>
              </a:rPr>
              <a:t>For the product: Interactive dashboard - response time by district, priority filter, hour-of-day animation</a:t>
            </a:r>
            <a:endParaRPr lang="en-US"/>
          </a:p>
          <a:p>
            <a:pPr marL="457200" indent="-457200"/>
            <a:r>
              <a:rPr lang="en-US">
                <a:ea typeface="+mn-lt"/>
                <a:cs typeface="+mn-lt"/>
              </a:rPr>
              <a:t>Policy recommendation: The P1/P2 finding warrants review - if two priority levels produce identical response times, the classification system may need refinement</a:t>
            </a:r>
            <a:endParaRPr lang="en-US"/>
          </a:p>
          <a:p>
            <a:pPr marL="457200" indent="-457200"/>
            <a:r>
              <a:rPr lang="en-US"/>
              <a:t>Investigate why response time is missing for 23% of dispatch records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0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61CF-50BD-6A05-ADDE-F67A6BB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F66BF-3C71-4F38-4171-45F1C1159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Priority is the dominant predictor - by a wide margin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District, time of day, and incident category have small but real effects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Weekend has no practical significance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8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78FA-794A-91E7-67CA-E6D6FB1A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0E9F-A667-1C88-579D-F5072E7F7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Professor Alraee</a:t>
            </a:r>
          </a:p>
          <a:p>
            <a:r>
              <a:rPr lang="en-US"/>
              <a:t>Professor Perine</a:t>
            </a:r>
          </a:p>
          <a:p>
            <a:r>
              <a:rPr lang="en-US"/>
              <a:t>Professor Park</a:t>
            </a:r>
          </a:p>
          <a:p>
            <a:r>
              <a:rPr lang="en-US"/>
              <a:t>Data science classmates and Early college cohort</a:t>
            </a:r>
          </a:p>
          <a:p>
            <a:r>
              <a:rPr lang="en-US"/>
              <a:t>Classmates who provided feedback</a:t>
            </a:r>
          </a:p>
          <a:p>
            <a:r>
              <a:rPr lang="en-US">
                <a:ea typeface="+mn-lt"/>
                <a:cs typeface="+mn-lt"/>
              </a:rPr>
              <a:t>Data Montgomery open data portal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8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4398-6BF0-21BE-6075-E04646E5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67D8A-EF0D-92AD-11D0-4A3CFD385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https://github.com/Garfieldslard/Crime-Analysis</a:t>
            </a:r>
            <a:endParaRPr lang="en-US"/>
          </a:p>
          <a:p>
            <a:r>
              <a:rPr lang="en-US">
                <a:ea typeface="+mn-lt"/>
                <a:cs typeface="+mn-lt"/>
                <a:hlinkClick r:id="rId2"/>
              </a:rPr>
              <a:t>https://data.montgomerycountymd.gov/Public-Safety/Crime/icn6-v9z3/about_data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https://data.montgomerycountymd.gov/Public-Safety/Police-Dispatched-Incidents/98cc-bc7d/about_data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2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Predicting Dispatch Response Time in Montgomery County (2025)</vt:lpstr>
      <vt:lpstr>Why this matters?</vt:lpstr>
      <vt:lpstr>How Does Montgomery County Classify 911 Calls?</vt:lpstr>
      <vt:lpstr>Project Overview</vt:lpstr>
      <vt:lpstr>Tools used</vt:lpstr>
      <vt:lpstr>Data Pipeline &amp; Cleaning Decisions</vt:lpstr>
      <vt:lpstr>Descriptive Statistics</vt:lpstr>
      <vt:lpstr>Six Hypothesis Tests, One Clear Winner</vt:lpstr>
      <vt:lpstr>Models</vt:lpstr>
      <vt:lpstr>The Higher the Priority, The Faster the Response</vt:lpstr>
      <vt:lpstr>A Surprising Gap in the Priority System</vt:lpstr>
      <vt:lpstr>Fewer Calls = Faster Response</vt:lpstr>
      <vt:lpstr>Geography Shapes Your Wait Time</vt:lpstr>
      <vt:lpstr>Weekends Are Not Slower, The Data Says So</vt:lpstr>
      <vt:lpstr>Reflection</vt:lpstr>
      <vt:lpstr>Limitations</vt:lpstr>
      <vt:lpstr>Next steps</vt:lpstr>
      <vt:lpstr>Conclusion</vt:lpstr>
      <vt:lpstr>Acknowledgements 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133</cp:revision>
  <dcterms:created xsi:type="dcterms:W3CDTF">2026-04-30T14:46:58Z</dcterms:created>
  <dcterms:modified xsi:type="dcterms:W3CDTF">2026-05-09T23:26:22Z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b55589f-69af-4b8f-bb7e-f33b2c49fdb7_Enabled">
    <vt:lpwstr>true</vt:lpwstr>
  </property>
  <property fmtid="{D5CDD505-2E9C-101B-9397-08002B2CF9AE}" pid="3" name="MSIP_Label_db55589f-69af-4b8f-bb7e-f33b2c49fdb7_SetDate">
    <vt:lpwstr>2026-04-30T17:32:20Z</vt:lpwstr>
  </property>
  <property fmtid="{D5CDD505-2E9C-101B-9397-08002B2CF9AE}" pid="4" name="MSIP_Label_db55589f-69af-4b8f-bb7e-f33b2c49fdb7_Method">
    <vt:lpwstr>Standard</vt:lpwstr>
  </property>
  <property fmtid="{D5CDD505-2E9C-101B-9397-08002B2CF9AE}" pid="5" name="MSIP_Label_db55589f-69af-4b8f-bb7e-f33b2c49fdb7_Name">
    <vt:lpwstr>Sensitive (Internal)</vt:lpwstr>
  </property>
  <property fmtid="{D5CDD505-2E9C-101B-9397-08002B2CF9AE}" pid="6" name="MSIP_Label_db55589f-69af-4b8f-bb7e-f33b2c49fdb7_SiteId">
    <vt:lpwstr>4d401e0b-6552-4e08-bd38-a8d15ca0ddd9</vt:lpwstr>
  </property>
  <property fmtid="{D5CDD505-2E9C-101B-9397-08002B2CF9AE}" pid="7" name="MSIP_Label_db55589f-69af-4b8f-bb7e-f33b2c49fdb7_ActionId">
    <vt:lpwstr>3bce3721-e46b-4073-8715-140ba6d4b04a</vt:lpwstr>
  </property>
  <property fmtid="{D5CDD505-2E9C-101B-9397-08002B2CF9AE}" pid="8" name="MSIP_Label_db55589f-69af-4b8f-bb7e-f33b2c49fdb7_Provider">
    <vt:lpwstr>Varonis.Labeling</vt:lpwstr>
  </property>
  <property fmtid="{D5CDD505-2E9C-101B-9397-08002B2CF9AE}" pid="9" name="MSIP_Label_db55589f-69af-4b8f-bb7e-f33b2c49fdb7_ContentBits">
    <vt:lpwstr>0</vt:lpwstr>
  </property>
</Properties>
</file>